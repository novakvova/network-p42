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 цита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Істина/хибні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63EF7BB-2567-4A11-9649-8E2C1914E9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1532965"/>
            <a:ext cx="8915399" cy="4370697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uk-UA" dirty="0"/>
              <a:t>Що таке мережеве програмування? </a:t>
            </a:r>
            <a:endParaRPr lang="en-US" dirty="0"/>
          </a:p>
          <a:p>
            <a:pPr marL="342900" indent="-342900">
              <a:buAutoNum type="arabicPeriod"/>
            </a:pPr>
            <a:r>
              <a:rPr lang="uk-UA" dirty="0"/>
              <a:t>Цілі та завдання мережевого програмування. </a:t>
            </a:r>
            <a:endParaRPr lang="en-US" dirty="0"/>
          </a:p>
          <a:p>
            <a:pPr marL="342900" indent="-342900">
              <a:buAutoNum type="arabicPeriod"/>
            </a:pPr>
            <a:r>
              <a:rPr lang="uk-UA" dirty="0"/>
              <a:t>Що таке мережа? </a:t>
            </a:r>
            <a:endParaRPr lang="en-US" dirty="0"/>
          </a:p>
          <a:p>
            <a:pPr marL="342900" indent="-342900">
              <a:buAutoNum type="arabicPeriod"/>
            </a:pPr>
            <a:r>
              <a:rPr lang="uk-UA" dirty="0"/>
              <a:t>Типи мереж. </a:t>
            </a:r>
            <a:endParaRPr lang="en-US" dirty="0"/>
          </a:p>
          <a:p>
            <a:pPr marL="342900" indent="-342900">
              <a:buAutoNum type="arabicPeriod"/>
            </a:pPr>
            <a:r>
              <a:rPr lang="uk-UA" dirty="0"/>
              <a:t>Модель </a:t>
            </a:r>
            <a:r>
              <a:rPr lang="en-US" dirty="0"/>
              <a:t>OSI. </a:t>
            </a:r>
          </a:p>
          <a:p>
            <a:pPr marL="342900" indent="-342900">
              <a:buAutoNum type="arabicPeriod"/>
            </a:pPr>
            <a:r>
              <a:rPr lang="uk-UA" dirty="0"/>
              <a:t>Базові терміни: </a:t>
            </a:r>
            <a:endParaRPr lang="en-US" dirty="0"/>
          </a:p>
          <a:p>
            <a:r>
              <a:rPr lang="en-US" dirty="0"/>
              <a:t>	</a:t>
            </a:r>
            <a:r>
              <a:rPr lang="uk-UA" dirty="0"/>
              <a:t>■ мережеві протоколи; </a:t>
            </a:r>
            <a:endParaRPr lang="en-US" dirty="0"/>
          </a:p>
          <a:p>
            <a:r>
              <a:rPr lang="en-US" dirty="0"/>
              <a:t>	</a:t>
            </a:r>
            <a:r>
              <a:rPr lang="uk-UA" dirty="0"/>
              <a:t>■ </a:t>
            </a:r>
            <a:r>
              <a:rPr lang="en-US" dirty="0"/>
              <a:t>IP-</a:t>
            </a:r>
            <a:r>
              <a:rPr lang="uk-UA" dirty="0"/>
              <a:t>адреса; </a:t>
            </a:r>
            <a:endParaRPr lang="en-US" dirty="0"/>
          </a:p>
          <a:p>
            <a:r>
              <a:rPr lang="en-US" dirty="0"/>
              <a:t>	</a:t>
            </a:r>
            <a:r>
              <a:rPr lang="uk-UA" dirty="0"/>
              <a:t>■ </a:t>
            </a:r>
            <a:r>
              <a:rPr lang="uk-UA" dirty="0" err="1"/>
              <a:t>сокет</a:t>
            </a:r>
            <a:r>
              <a:rPr lang="uk-UA" dirty="0"/>
              <a:t>; </a:t>
            </a:r>
            <a:endParaRPr lang="en-US" dirty="0"/>
          </a:p>
          <a:p>
            <a:r>
              <a:rPr lang="en-US" dirty="0"/>
              <a:t>	</a:t>
            </a:r>
            <a:r>
              <a:rPr lang="uk-UA" dirty="0"/>
              <a:t>■ порт</a:t>
            </a:r>
            <a:endParaRPr lang="LID4096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D63AAAA-A821-4329-A286-4A0A3070175F}"/>
              </a:ext>
            </a:extLst>
          </p:cNvPr>
          <p:cNvSpPr txBox="1">
            <a:spLocks/>
          </p:cNvSpPr>
          <p:nvPr/>
        </p:nvSpPr>
        <p:spPr>
          <a:xfrm>
            <a:off x="2589213" y="376518"/>
            <a:ext cx="8915399" cy="9315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uk-UA"/>
              <a:t>Вступ до мереж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41790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63EF7BB-2567-4A11-9649-8E2C1914E9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1532965"/>
            <a:ext cx="8915399" cy="4370697"/>
          </a:xfrm>
        </p:spPr>
        <p:txBody>
          <a:bodyPr>
            <a:normAutofit/>
          </a:bodyPr>
          <a:lstStyle/>
          <a:p>
            <a:r>
              <a:rPr lang="uk-UA" b="1" dirty="0"/>
              <a:t>Мережеве програмування</a:t>
            </a:r>
            <a:r>
              <a:rPr lang="uk-UA" dirty="0"/>
              <a:t> — це розділ програмування, що займається створенням програм, які обмінюються даними через комп’ютерні мережі (наприклад, локальні мережі чи Інтернет).</a:t>
            </a:r>
          </a:p>
          <a:p>
            <a:r>
              <a:rPr lang="uk-UA" dirty="0"/>
              <a:t>Основна мета мережевого програмування — забезпечити взаємодію між двома або більше пристроями, які можуть бути як на одній машині, так і на різних кінцях світу.</a:t>
            </a:r>
          </a:p>
          <a:p>
            <a:r>
              <a:rPr lang="uk-UA" b="1" dirty="0"/>
              <a:t>Приклади застосування мережевого програмування: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dirty="0"/>
              <a:t>Розробка чат-додатків.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dirty="0"/>
              <a:t>Веб-сервери та клієнти.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dirty="0"/>
              <a:t>Онлайн-ігри.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dirty="0"/>
              <a:t>Програми для завантаження/передачі файлів (</a:t>
            </a:r>
            <a:r>
              <a:rPr lang="en-US" dirty="0"/>
              <a:t>FTP).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API-</a:t>
            </a:r>
            <a:r>
              <a:rPr lang="uk-UA" dirty="0"/>
              <a:t>клієнти, що працюють з віддаленими сервісами.</a:t>
            </a:r>
          </a:p>
          <a:p>
            <a:endParaRPr lang="LID4096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D63AAAA-A821-4329-A286-4A0A3070175F}"/>
              </a:ext>
            </a:extLst>
          </p:cNvPr>
          <p:cNvSpPr txBox="1">
            <a:spLocks/>
          </p:cNvSpPr>
          <p:nvPr/>
        </p:nvSpPr>
        <p:spPr>
          <a:xfrm>
            <a:off x="1926077" y="311285"/>
            <a:ext cx="9578535" cy="78972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1.</a:t>
            </a:r>
            <a:r>
              <a:rPr lang="uk-UA" dirty="0"/>
              <a:t>Що таке мережеве програмування?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03329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D63AAAA-A821-4329-A286-4A0A3070175F}"/>
              </a:ext>
            </a:extLst>
          </p:cNvPr>
          <p:cNvSpPr txBox="1">
            <a:spLocks/>
          </p:cNvSpPr>
          <p:nvPr/>
        </p:nvSpPr>
        <p:spPr>
          <a:xfrm>
            <a:off x="1264596" y="204281"/>
            <a:ext cx="10240016" cy="78972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2. </a:t>
            </a:r>
            <a:r>
              <a:rPr lang="uk-UA" dirty="0"/>
              <a:t>Цілі та завдання мережевого програмування. </a:t>
            </a:r>
            <a:endParaRPr lang="LID4096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25D846-9621-45A7-AA8C-B69E593D7AF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20728" y="1108200"/>
            <a:ext cx="996919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Забезпечення зв'язку між пристроями</a:t>
            </a:r>
            <a:b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Дозволити обмін даними між комп’ютерами, серверами, мобільними пристроями тощо.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Розробка розподілених систем</a:t>
            </a:r>
            <a:b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Створення програм, що працюють на кількох пристроях одночасно (наприклад, хмарні сервіси, клієнт-серверні системи).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Інтеграція з Інтернетом і веб-службами</a:t>
            </a:r>
            <a:b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Доступ до API, віддалених баз даних, хмарних сховищ тощо.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Підвищення ефективності передачі даних</a:t>
            </a:r>
            <a:b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Оптимізація швидкості та надійності обміну даними між пристроями.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Забезпечення безпеки комунікацій</a:t>
            </a:r>
            <a:b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Захист даних під час передачі через мережу (шифрування, автентифікація тощо).</a:t>
            </a:r>
          </a:p>
        </p:txBody>
      </p:sp>
    </p:spTree>
    <p:extLst>
      <p:ext uri="{BB962C8B-B14F-4D97-AF65-F5344CB8AC3E}">
        <p14:creationId xmlns:p14="http://schemas.microsoft.com/office/powerpoint/2010/main" val="1994530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D63AAAA-A821-4329-A286-4A0A3070175F}"/>
              </a:ext>
            </a:extLst>
          </p:cNvPr>
          <p:cNvSpPr txBox="1">
            <a:spLocks/>
          </p:cNvSpPr>
          <p:nvPr/>
        </p:nvSpPr>
        <p:spPr>
          <a:xfrm>
            <a:off x="1429966" y="272373"/>
            <a:ext cx="10074646" cy="7216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2. </a:t>
            </a:r>
            <a:r>
              <a:rPr lang="uk-UA" dirty="0"/>
              <a:t>Цілі та завдання мережевого програмування. </a:t>
            </a:r>
            <a:endParaRPr lang="LID4096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25D846-9621-45A7-AA8C-B69E593D7AF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20728" y="1276773"/>
            <a:ext cx="9969195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uk-UA" b="1" dirty="0"/>
              <a:t>Завдання мережевого програмування:</a:t>
            </a:r>
          </a:p>
          <a:p>
            <a:pPr marL="342900" indent="-342900">
              <a:buFont typeface="+mj-lt"/>
              <a:buAutoNum type="arabicPeriod"/>
            </a:pPr>
            <a:r>
              <a:rPr lang="uk-UA" b="1" dirty="0"/>
              <a:t>Розробка клієнтських і серверних програм</a:t>
            </a:r>
            <a:br>
              <a:rPr lang="uk-UA" dirty="0"/>
            </a:br>
            <a:r>
              <a:rPr lang="uk-UA" dirty="0"/>
              <a:t>Наприклад, створення чату, </a:t>
            </a:r>
            <a:r>
              <a:rPr lang="uk-UA" dirty="0" err="1"/>
              <a:t>вебсайту</a:t>
            </a:r>
            <a:r>
              <a:rPr lang="uk-UA" dirty="0"/>
              <a:t> або онлайн-ігри.</a:t>
            </a:r>
          </a:p>
          <a:p>
            <a:pPr marL="342900" indent="-342900">
              <a:buFont typeface="+mj-lt"/>
              <a:buAutoNum type="arabicPeriod"/>
            </a:pPr>
            <a:r>
              <a:rPr lang="uk-UA" b="1" dirty="0"/>
              <a:t>Налаштування з’єднання між пристроями</a:t>
            </a:r>
            <a:br>
              <a:rPr lang="uk-UA" dirty="0"/>
            </a:br>
            <a:r>
              <a:rPr lang="uk-UA" dirty="0"/>
              <a:t>Використання </a:t>
            </a:r>
            <a:r>
              <a:rPr lang="en-US" dirty="0"/>
              <a:t>IP-</a:t>
            </a:r>
            <a:r>
              <a:rPr lang="uk-UA" dirty="0"/>
              <a:t>адрес, портів, протоколів.</a:t>
            </a:r>
          </a:p>
          <a:p>
            <a:pPr marL="342900" indent="-342900">
              <a:buFont typeface="+mj-lt"/>
              <a:buAutoNum type="arabicPeriod"/>
            </a:pPr>
            <a:r>
              <a:rPr lang="uk-UA" b="1" dirty="0"/>
              <a:t>Обробка запитів і відповідей</a:t>
            </a:r>
            <a:br>
              <a:rPr lang="uk-UA" dirty="0"/>
            </a:br>
            <a:r>
              <a:rPr lang="uk-UA" dirty="0"/>
              <a:t>Сервер має правильно реагувати на запити клієнта, обробляти їх і повертати відповіді.</a:t>
            </a:r>
          </a:p>
          <a:p>
            <a:pPr marL="342900" indent="-342900">
              <a:buFont typeface="+mj-lt"/>
              <a:buAutoNum type="arabicPeriod"/>
            </a:pPr>
            <a:r>
              <a:rPr lang="uk-UA" b="1" dirty="0"/>
              <a:t>Обробка помилок та </a:t>
            </a:r>
            <a:r>
              <a:rPr lang="uk-UA" b="1" dirty="0" err="1"/>
              <a:t>несправностей</a:t>
            </a:r>
            <a:r>
              <a:rPr lang="uk-UA" b="1" dirty="0"/>
              <a:t> мережі</a:t>
            </a:r>
            <a:br>
              <a:rPr lang="uk-UA" dirty="0"/>
            </a:br>
            <a:r>
              <a:rPr lang="uk-UA" dirty="0"/>
              <a:t>Виявлення втрат пакетів, перевірка надійності з’єднання, відновлення після збоїв.</a:t>
            </a:r>
          </a:p>
          <a:p>
            <a:pPr marL="342900" indent="-342900">
              <a:buFont typeface="+mj-lt"/>
              <a:buAutoNum type="arabicPeriod"/>
            </a:pPr>
            <a:r>
              <a:rPr lang="uk-UA" b="1" dirty="0"/>
              <a:t>Передача, прийом і обробка даних</a:t>
            </a:r>
            <a:br>
              <a:rPr lang="uk-UA" dirty="0"/>
            </a:br>
            <a:r>
              <a:rPr lang="uk-UA" dirty="0"/>
              <a:t>Використання відповідних протоколів (</a:t>
            </a:r>
            <a:r>
              <a:rPr lang="en-US" dirty="0"/>
              <a:t>TCP, UDP, HTTP </a:t>
            </a:r>
            <a:r>
              <a:rPr lang="uk-UA" dirty="0"/>
              <a:t>тощо) для передачі файлів, повідомлень чи інших даних.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419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D63AAAA-A821-4329-A286-4A0A3070175F}"/>
              </a:ext>
            </a:extLst>
          </p:cNvPr>
          <p:cNvSpPr txBox="1">
            <a:spLocks/>
          </p:cNvSpPr>
          <p:nvPr/>
        </p:nvSpPr>
        <p:spPr>
          <a:xfrm>
            <a:off x="1820728" y="269513"/>
            <a:ext cx="9210438" cy="58652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3.</a:t>
            </a:r>
            <a:r>
              <a:rPr lang="uk-UA" dirty="0"/>
              <a:t>Що таке мережа?  </a:t>
            </a:r>
            <a:endParaRPr lang="LID4096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25D846-9621-45A7-AA8C-B69E593D7AF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35903" y="1138738"/>
            <a:ext cx="996919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uk-UA" b="1" dirty="0"/>
              <a:t>Мережа</a:t>
            </a:r>
            <a:r>
              <a:rPr lang="uk-UA" dirty="0"/>
              <a:t> — це сукупність з'єднаних між собою пристроїв (комп'ютерів, серверів, телефонів тощо), які можуть обмінюватися даними.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93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D63AAAA-A821-4329-A286-4A0A3070175F}"/>
              </a:ext>
            </a:extLst>
          </p:cNvPr>
          <p:cNvSpPr txBox="1">
            <a:spLocks/>
          </p:cNvSpPr>
          <p:nvPr/>
        </p:nvSpPr>
        <p:spPr>
          <a:xfrm>
            <a:off x="1820728" y="269513"/>
            <a:ext cx="9210438" cy="58652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4.</a:t>
            </a:r>
            <a:r>
              <a:rPr lang="uk-UA" dirty="0"/>
              <a:t> Типи мереж.  </a:t>
            </a:r>
            <a:endParaRPr lang="LID4096" dirty="0"/>
          </a:p>
        </p:txBody>
      </p:sp>
      <p:graphicFrame>
        <p:nvGraphicFramePr>
          <p:cNvPr id="2" name="Таблиця 1">
            <a:extLst>
              <a:ext uri="{FF2B5EF4-FFF2-40B4-BE49-F238E27FC236}">
                <a16:creationId xmlns:a16="http://schemas.microsoft.com/office/drawing/2014/main" id="{ACEAC35C-E7D6-47AC-9AF2-900E7015F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357279"/>
              </p:ext>
            </p:extLst>
          </p:nvPr>
        </p:nvGraphicFramePr>
        <p:xfrm>
          <a:off x="2355948" y="1280160"/>
          <a:ext cx="8915400" cy="4297680"/>
        </p:xfrm>
        <a:graphic>
          <a:graphicData uri="http://schemas.openxmlformats.org/drawingml/2006/table">
            <a:tbl>
              <a:tblPr/>
              <a:tblGrid>
                <a:gridCol w="4457700">
                  <a:extLst>
                    <a:ext uri="{9D8B030D-6E8A-4147-A177-3AD203B41FA5}">
                      <a16:colId xmlns:a16="http://schemas.microsoft.com/office/drawing/2014/main" val="2347714193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1665588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496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LAN (</a:t>
                      </a:r>
                      <a:r>
                        <a:rPr lang="uk-UA" b="1" dirty="0"/>
                        <a:t>локальна мережа)</a:t>
                      </a:r>
                      <a:endParaRPr lang="en-US" b="1" dirty="0"/>
                    </a:p>
                    <a:p>
                      <a:endParaRPr lang="uk-U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Об'єднує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пристрої</a:t>
                      </a:r>
                      <a:r>
                        <a:rPr lang="ru-RU" dirty="0"/>
                        <a:t> в межах </a:t>
                      </a:r>
                      <a:r>
                        <a:rPr lang="ru-RU" dirty="0" err="1"/>
                        <a:t>невеликої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території</a:t>
                      </a:r>
                      <a:r>
                        <a:rPr lang="ru-RU" dirty="0"/>
                        <a:t> (</a:t>
                      </a:r>
                      <a:r>
                        <a:rPr lang="ru-RU" dirty="0" err="1"/>
                        <a:t>наприклад</a:t>
                      </a:r>
                      <a:r>
                        <a:rPr lang="ru-RU" dirty="0"/>
                        <a:t>, школа, </a:t>
                      </a:r>
                      <a:r>
                        <a:rPr lang="ru-RU" dirty="0" err="1"/>
                        <a:t>офіс</a:t>
                      </a:r>
                      <a:r>
                        <a:rPr lang="ru-RU" dirty="0"/>
                        <a:t>).</a:t>
                      </a:r>
                      <a:endParaRPr lang="en-US" dirty="0"/>
                    </a:p>
                    <a:p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206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WAN (</a:t>
                      </a:r>
                      <a:r>
                        <a:rPr lang="uk-UA" b="1" dirty="0"/>
                        <a:t>глобальна мережа)</a:t>
                      </a:r>
                      <a:endParaRPr lang="en-US" b="1" dirty="0"/>
                    </a:p>
                    <a:p>
                      <a:endParaRPr lang="uk-U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Об'єднує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мережі</a:t>
                      </a:r>
                      <a:r>
                        <a:rPr lang="ru-RU" dirty="0"/>
                        <a:t> на </a:t>
                      </a:r>
                      <a:r>
                        <a:rPr lang="ru-RU" dirty="0" err="1"/>
                        <a:t>великій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відстані</a:t>
                      </a:r>
                      <a:r>
                        <a:rPr lang="ru-RU" dirty="0"/>
                        <a:t> (</a:t>
                      </a:r>
                      <a:r>
                        <a:rPr lang="ru-RU" dirty="0" err="1"/>
                        <a:t>наприклад</a:t>
                      </a:r>
                      <a:r>
                        <a:rPr lang="ru-RU" dirty="0"/>
                        <a:t>, </a:t>
                      </a:r>
                      <a:r>
                        <a:rPr lang="ru-RU" dirty="0" err="1"/>
                        <a:t>Інтернет</a:t>
                      </a:r>
                      <a:r>
                        <a:rPr lang="ru-RU" dirty="0"/>
                        <a:t>).</a:t>
                      </a:r>
                      <a:endParaRPr lang="en-US" dirty="0"/>
                    </a:p>
                    <a:p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570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Wi-Fi </a:t>
                      </a:r>
                      <a:r>
                        <a:rPr lang="uk-UA" b="1" dirty="0"/>
                        <a:t>мережа</a:t>
                      </a:r>
                      <a:endParaRPr lang="en-US" b="1" dirty="0"/>
                    </a:p>
                    <a:p>
                      <a:endParaRPr lang="uk-U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Бездротове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з'єднання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пристроїв</a:t>
                      </a:r>
                      <a:r>
                        <a:rPr lang="ru-RU" dirty="0"/>
                        <a:t> через </a:t>
                      </a:r>
                      <a:r>
                        <a:rPr lang="ru-RU" dirty="0" err="1"/>
                        <a:t>радіохвилі</a:t>
                      </a:r>
                      <a:r>
                        <a:rPr lang="ru-RU" dirty="0"/>
                        <a:t>.</a:t>
                      </a:r>
                      <a:endParaRPr lang="en-US" dirty="0"/>
                    </a:p>
                    <a:p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696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Bluetooth </a:t>
                      </a:r>
                      <a:r>
                        <a:rPr lang="uk-UA" b="1" dirty="0"/>
                        <a:t>мережа</a:t>
                      </a:r>
                      <a:endParaRPr lang="en-US" b="1" dirty="0"/>
                    </a:p>
                    <a:p>
                      <a:endParaRPr lang="uk-U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Обмін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даними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між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пристроями</a:t>
                      </a:r>
                      <a:r>
                        <a:rPr lang="ru-RU" dirty="0"/>
                        <a:t> на </a:t>
                      </a:r>
                      <a:r>
                        <a:rPr lang="ru-RU" dirty="0" err="1"/>
                        <a:t>короткій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відстані</a:t>
                      </a:r>
                      <a:r>
                        <a:rPr lang="ru-RU" dirty="0"/>
                        <a:t>.</a:t>
                      </a:r>
                      <a:endParaRPr lang="en-US" dirty="0"/>
                    </a:p>
                    <a:p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1267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9992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D63AAAA-A821-4329-A286-4A0A3070175F}"/>
              </a:ext>
            </a:extLst>
          </p:cNvPr>
          <p:cNvSpPr txBox="1">
            <a:spLocks/>
          </p:cNvSpPr>
          <p:nvPr/>
        </p:nvSpPr>
        <p:spPr>
          <a:xfrm>
            <a:off x="1820728" y="269513"/>
            <a:ext cx="9210438" cy="58652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5.</a:t>
            </a:r>
            <a:r>
              <a:rPr lang="uk-UA" dirty="0"/>
              <a:t> Модель </a:t>
            </a:r>
            <a:r>
              <a:rPr lang="en-US" dirty="0"/>
              <a:t>OSI (Open Systems Interconnection).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D879771-CD62-4D0D-8041-966BA8F57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02" y="895846"/>
            <a:ext cx="11579290" cy="970277"/>
          </a:xfrm>
        </p:spPr>
        <p:txBody>
          <a:bodyPr/>
          <a:lstStyle/>
          <a:p>
            <a:r>
              <a:rPr lang="ru-RU" b="1" dirty="0"/>
              <a:t>Модель OSI</a:t>
            </a:r>
            <a:r>
              <a:rPr lang="ru-RU" dirty="0"/>
              <a:t>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еталонна</a:t>
            </a:r>
            <a:r>
              <a:rPr lang="ru-RU" dirty="0"/>
              <a:t> модель, яка </a:t>
            </a:r>
            <a:r>
              <a:rPr lang="ru-RU" dirty="0" err="1"/>
              <a:t>описує</a:t>
            </a:r>
            <a:r>
              <a:rPr lang="ru-RU" dirty="0"/>
              <a:t>, як </a:t>
            </a:r>
            <a:r>
              <a:rPr lang="ru-RU" dirty="0" err="1"/>
              <a:t>дані</a:t>
            </a:r>
            <a:r>
              <a:rPr lang="ru-RU" dirty="0"/>
              <a:t> </a:t>
            </a:r>
            <a:r>
              <a:rPr lang="ru-RU" dirty="0" err="1"/>
              <a:t>передаються</a:t>
            </a:r>
            <a:r>
              <a:rPr lang="ru-RU" dirty="0"/>
              <a:t> через </a:t>
            </a:r>
            <a:r>
              <a:rPr lang="ru-RU" dirty="0" err="1"/>
              <a:t>комп'ютерні</a:t>
            </a:r>
            <a:r>
              <a:rPr lang="ru-RU" dirty="0"/>
              <a:t> </a:t>
            </a:r>
            <a:r>
              <a:rPr lang="ru-RU" dirty="0" err="1"/>
              <a:t>мережі</a:t>
            </a:r>
            <a:r>
              <a:rPr lang="ru-RU" dirty="0"/>
              <a:t>. Вона </a:t>
            </a:r>
            <a:r>
              <a:rPr lang="ru-RU" dirty="0" err="1"/>
              <a:t>поділяє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передачі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на </a:t>
            </a:r>
            <a:r>
              <a:rPr lang="ru-RU" b="1" dirty="0"/>
              <a:t>7 </a:t>
            </a:r>
            <a:r>
              <a:rPr lang="ru-RU" b="1" dirty="0" err="1"/>
              <a:t>рівнів</a:t>
            </a:r>
            <a:r>
              <a:rPr lang="ru-RU" dirty="0"/>
              <a:t>, </a:t>
            </a:r>
            <a:r>
              <a:rPr lang="ru-RU" dirty="0" err="1"/>
              <a:t>кожен</a:t>
            </a:r>
            <a:r>
              <a:rPr lang="ru-RU" dirty="0"/>
              <a:t> з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виконує</a:t>
            </a:r>
            <a:r>
              <a:rPr lang="ru-RU" dirty="0"/>
              <a:t> свою роль.</a:t>
            </a:r>
            <a:endParaRPr lang="LID4096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6D61AE-D694-46AC-A1F8-3953EB5D83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89" b="3481"/>
          <a:stretch/>
        </p:blipFill>
        <p:spPr>
          <a:xfrm>
            <a:off x="3039396" y="1576038"/>
            <a:ext cx="8875796" cy="528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18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D63AAAA-A821-4329-A286-4A0A3070175F}"/>
              </a:ext>
            </a:extLst>
          </p:cNvPr>
          <p:cNvSpPr txBox="1">
            <a:spLocks/>
          </p:cNvSpPr>
          <p:nvPr/>
        </p:nvSpPr>
        <p:spPr>
          <a:xfrm>
            <a:off x="1820728" y="269513"/>
            <a:ext cx="9210438" cy="8692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6.</a:t>
            </a:r>
            <a:r>
              <a:rPr lang="uk-UA" dirty="0"/>
              <a:t> Базові терміни:</a:t>
            </a:r>
            <a:r>
              <a:rPr lang="en-US" dirty="0"/>
              <a:t>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uk-UA" dirty="0"/>
              <a:t>мережеві протоколи;</a:t>
            </a:r>
            <a:r>
              <a:rPr lang="en-US" dirty="0"/>
              <a:t> </a:t>
            </a:r>
            <a:r>
              <a:rPr lang="uk-UA" dirty="0"/>
              <a:t>  </a:t>
            </a:r>
            <a:endParaRPr lang="LID4096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25D846-9621-45A7-AA8C-B69E593D7AF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41349" y="1421555"/>
            <a:ext cx="9969195" cy="2672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b="1" dirty="0" err="1"/>
              <a:t>Мережеві</a:t>
            </a:r>
            <a:r>
              <a:rPr lang="ru-RU" b="1" dirty="0"/>
              <a:t> </a:t>
            </a:r>
            <a:r>
              <a:rPr lang="ru-RU" b="1" dirty="0" err="1"/>
              <a:t>протоколи</a:t>
            </a:r>
            <a:r>
              <a:rPr lang="ru-RU" dirty="0"/>
              <a:t>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набір</a:t>
            </a:r>
            <a:r>
              <a:rPr lang="ru-RU" dirty="0"/>
              <a:t> правил і </a:t>
            </a:r>
            <a:r>
              <a:rPr lang="ru-RU" dirty="0" err="1"/>
              <a:t>стандартів</a:t>
            </a:r>
            <a:r>
              <a:rPr lang="ru-RU" dirty="0"/>
              <a:t>, за </a:t>
            </a:r>
            <a:r>
              <a:rPr lang="ru-RU" dirty="0" err="1"/>
              <a:t>якими</a:t>
            </a:r>
            <a:r>
              <a:rPr lang="ru-RU" dirty="0"/>
              <a:t> </a:t>
            </a:r>
            <a:r>
              <a:rPr lang="ru-RU" dirty="0" err="1"/>
              <a:t>пристрої</a:t>
            </a:r>
            <a:r>
              <a:rPr lang="ru-RU" dirty="0"/>
              <a:t> в </a:t>
            </a:r>
            <a:r>
              <a:rPr lang="ru-RU" dirty="0" err="1"/>
              <a:t>мережі</a:t>
            </a:r>
            <a:r>
              <a:rPr lang="ru-RU" dirty="0"/>
              <a:t> </a:t>
            </a:r>
            <a:r>
              <a:rPr lang="ru-RU" dirty="0" err="1"/>
              <a:t>обмінюються</a:t>
            </a:r>
            <a:r>
              <a:rPr lang="ru-RU" dirty="0"/>
              <a:t> </a:t>
            </a:r>
            <a:r>
              <a:rPr lang="ru-RU" dirty="0" err="1"/>
              <a:t>даними</a:t>
            </a:r>
            <a:r>
              <a:rPr lang="ru-RU" dirty="0"/>
              <a:t>.</a:t>
            </a:r>
            <a:endParaRPr lang="en-US" dirty="0"/>
          </a:p>
          <a:p>
            <a:r>
              <a:rPr lang="ru-RU" b="1" dirty="0" err="1"/>
              <a:t>Основні</a:t>
            </a:r>
            <a:r>
              <a:rPr lang="ru-RU" b="1" dirty="0"/>
              <a:t> </a:t>
            </a:r>
            <a:r>
              <a:rPr lang="ru-RU" b="1" dirty="0" err="1"/>
              <a:t>функції</a:t>
            </a:r>
            <a:r>
              <a:rPr lang="ru-RU" b="1" dirty="0"/>
              <a:t> </a:t>
            </a:r>
            <a:r>
              <a:rPr lang="ru-RU" b="1" dirty="0" err="1"/>
              <a:t>мережевих</a:t>
            </a:r>
            <a:r>
              <a:rPr lang="ru-RU" b="1" dirty="0"/>
              <a:t> </a:t>
            </a:r>
            <a:r>
              <a:rPr lang="ru-RU" b="1" dirty="0" err="1"/>
              <a:t>протоколів</a:t>
            </a:r>
            <a:r>
              <a:rPr lang="ru-RU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Встановлення</a:t>
            </a:r>
            <a:r>
              <a:rPr lang="ru-RU" dirty="0"/>
              <a:t> </a:t>
            </a:r>
            <a:r>
              <a:rPr lang="ru-RU" dirty="0" err="1"/>
              <a:t>зв’язку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пристроями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Передача, </a:t>
            </a:r>
            <a:r>
              <a:rPr lang="ru-RU" dirty="0" err="1"/>
              <a:t>прийом</a:t>
            </a:r>
            <a:r>
              <a:rPr lang="ru-RU" dirty="0"/>
              <a:t> і </a:t>
            </a:r>
            <a:r>
              <a:rPr lang="ru-RU" dirty="0" err="1"/>
              <a:t>підтвердження</a:t>
            </a:r>
            <a:r>
              <a:rPr lang="ru-RU" dirty="0"/>
              <a:t> </a:t>
            </a:r>
            <a:r>
              <a:rPr lang="ru-RU" dirty="0" err="1"/>
              <a:t>даних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Виявлення</a:t>
            </a:r>
            <a:r>
              <a:rPr lang="ru-RU" dirty="0"/>
              <a:t> та </a:t>
            </a:r>
            <a:r>
              <a:rPr lang="ru-RU" dirty="0" err="1"/>
              <a:t>виправлення</a:t>
            </a:r>
            <a:r>
              <a:rPr lang="ru-RU" dirty="0"/>
              <a:t> </a:t>
            </a:r>
            <a:r>
              <a:rPr lang="ru-RU" dirty="0" err="1"/>
              <a:t>помилок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Контроль </a:t>
            </a:r>
            <a:r>
              <a:rPr lang="ru-RU" dirty="0" err="1"/>
              <a:t>швидкості</a:t>
            </a:r>
            <a:r>
              <a:rPr lang="ru-RU" dirty="0"/>
              <a:t> </a:t>
            </a:r>
            <a:r>
              <a:rPr lang="ru-RU" dirty="0" err="1"/>
              <a:t>передачі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7349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D63AAAA-A821-4329-A286-4A0A3070175F}"/>
              </a:ext>
            </a:extLst>
          </p:cNvPr>
          <p:cNvSpPr txBox="1">
            <a:spLocks/>
          </p:cNvSpPr>
          <p:nvPr/>
        </p:nvSpPr>
        <p:spPr>
          <a:xfrm>
            <a:off x="1820728" y="269513"/>
            <a:ext cx="9210438" cy="8692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6.</a:t>
            </a:r>
            <a:r>
              <a:rPr lang="uk-UA" dirty="0"/>
              <a:t> Базові терміни:</a:t>
            </a:r>
            <a:r>
              <a:rPr lang="en-US" dirty="0"/>
              <a:t>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uk-UA" dirty="0"/>
              <a:t>мережеві протоколи;</a:t>
            </a:r>
            <a:r>
              <a:rPr lang="en-US" dirty="0"/>
              <a:t> </a:t>
            </a:r>
            <a:r>
              <a:rPr lang="uk-UA" dirty="0"/>
              <a:t>  </a:t>
            </a:r>
            <a:endParaRPr lang="LID4096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E8C281-1172-4D9A-BC30-60DF91C43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714" y="1768637"/>
            <a:ext cx="931545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70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D63AAAA-A821-4329-A286-4A0A3070175F}"/>
              </a:ext>
            </a:extLst>
          </p:cNvPr>
          <p:cNvSpPr txBox="1">
            <a:spLocks/>
          </p:cNvSpPr>
          <p:nvPr/>
        </p:nvSpPr>
        <p:spPr>
          <a:xfrm>
            <a:off x="1820728" y="269513"/>
            <a:ext cx="9210438" cy="8692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6.</a:t>
            </a:r>
            <a:r>
              <a:rPr lang="uk-UA" dirty="0"/>
              <a:t> Базові терміни:</a:t>
            </a:r>
            <a:r>
              <a:rPr lang="en-US" dirty="0"/>
              <a:t>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IP-</a:t>
            </a:r>
            <a:r>
              <a:rPr lang="uk-UA" dirty="0"/>
              <a:t>адреса;</a:t>
            </a:r>
            <a:r>
              <a:rPr lang="en-US" dirty="0"/>
              <a:t> </a:t>
            </a:r>
            <a:r>
              <a:rPr lang="uk-UA" dirty="0"/>
              <a:t>  </a:t>
            </a:r>
            <a:endParaRPr lang="LID4096" dirty="0"/>
          </a:p>
        </p:txBody>
      </p:sp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6EFD3555-E084-4EDF-96EC-510014D1A571}"/>
              </a:ext>
            </a:extLst>
          </p:cNvPr>
          <p:cNvSpPr/>
          <p:nvPr/>
        </p:nvSpPr>
        <p:spPr>
          <a:xfrm>
            <a:off x="1732383" y="1205310"/>
            <a:ext cx="94923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IP-</a:t>
            </a:r>
            <a:r>
              <a:rPr lang="uk-UA" b="1" dirty="0"/>
              <a:t>адреса</a:t>
            </a:r>
            <a:r>
              <a:rPr lang="uk-UA" dirty="0"/>
              <a:t> (</a:t>
            </a:r>
            <a:r>
              <a:rPr lang="uk-UA" dirty="0" err="1"/>
              <a:t>англ</a:t>
            </a:r>
            <a:r>
              <a:rPr lang="uk-UA" dirty="0"/>
              <a:t>. </a:t>
            </a:r>
            <a:r>
              <a:rPr lang="en-US" i="1" dirty="0"/>
              <a:t>Internet Protocol address</a:t>
            </a:r>
            <a:r>
              <a:rPr lang="en-US" dirty="0"/>
              <a:t>) — </a:t>
            </a:r>
            <a:r>
              <a:rPr lang="uk-UA" dirty="0"/>
              <a:t>це унікальний числовий ідентифікатор пристрою в комп’ютерній мережі, який дозволяє знайти його та встановити з ним зв’язок</a:t>
            </a:r>
            <a:r>
              <a:rPr lang="en-US" dirty="0"/>
              <a:t> (IPv4, IPv6)</a:t>
            </a:r>
            <a:r>
              <a:rPr lang="uk-UA" dirty="0"/>
              <a:t>.</a:t>
            </a:r>
            <a:endParaRPr lang="LID4096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E4F9A2-2E60-42EE-A279-153C538EF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788" y="2490885"/>
            <a:ext cx="98679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83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D63AAAA-A821-4329-A286-4A0A3070175F}"/>
              </a:ext>
            </a:extLst>
          </p:cNvPr>
          <p:cNvSpPr txBox="1">
            <a:spLocks/>
          </p:cNvSpPr>
          <p:nvPr/>
        </p:nvSpPr>
        <p:spPr>
          <a:xfrm>
            <a:off x="1820728" y="269513"/>
            <a:ext cx="9210438" cy="8692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6.</a:t>
            </a:r>
            <a:r>
              <a:rPr lang="uk-UA" dirty="0"/>
              <a:t> Базові терміни:</a:t>
            </a:r>
            <a:r>
              <a:rPr lang="en-US" dirty="0"/>
              <a:t>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uk-UA" dirty="0" err="1"/>
              <a:t>сокет</a:t>
            </a:r>
            <a:r>
              <a:rPr lang="uk-UA" dirty="0"/>
              <a:t>;</a:t>
            </a:r>
            <a:r>
              <a:rPr lang="en-US" dirty="0"/>
              <a:t> </a:t>
            </a:r>
            <a:r>
              <a:rPr lang="uk-UA" dirty="0"/>
              <a:t>  </a:t>
            </a:r>
            <a:endParaRPr lang="LID4096" dirty="0"/>
          </a:p>
        </p:txBody>
      </p:sp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6EFD3555-E084-4EDF-96EC-510014D1A571}"/>
              </a:ext>
            </a:extLst>
          </p:cNvPr>
          <p:cNvSpPr/>
          <p:nvPr/>
        </p:nvSpPr>
        <p:spPr>
          <a:xfrm>
            <a:off x="1732383" y="1205310"/>
            <a:ext cx="94923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Сокет</a:t>
            </a:r>
            <a:r>
              <a:rPr lang="ru-RU" dirty="0"/>
              <a:t>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програмний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обмінюватися</a:t>
            </a:r>
            <a:r>
              <a:rPr lang="ru-RU" dirty="0"/>
              <a:t> </a:t>
            </a:r>
            <a:r>
              <a:rPr lang="ru-RU" dirty="0" err="1"/>
              <a:t>даними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пристроями</a:t>
            </a:r>
            <a:r>
              <a:rPr lang="ru-RU" dirty="0"/>
              <a:t> в </a:t>
            </a:r>
            <a:r>
              <a:rPr lang="ru-RU" dirty="0" err="1"/>
              <a:t>мережі</a:t>
            </a:r>
            <a:r>
              <a:rPr lang="ru-RU" dirty="0"/>
              <a:t>.</a:t>
            </a:r>
            <a:r>
              <a:rPr lang="en-US" dirty="0"/>
              <a:t> </a:t>
            </a:r>
          </a:p>
          <a:p>
            <a:r>
              <a:rPr lang="ru-RU" dirty="0"/>
              <a:t>Сокет — </a:t>
            </a:r>
            <a:r>
              <a:rPr lang="ru-RU" dirty="0" err="1"/>
              <a:t>це</a:t>
            </a:r>
            <a:r>
              <a:rPr lang="ru-RU" dirty="0"/>
              <a:t> “</a:t>
            </a:r>
            <a:r>
              <a:rPr lang="ru-RU" dirty="0" err="1"/>
              <a:t>електронне</a:t>
            </a:r>
            <a:r>
              <a:rPr lang="ru-RU" dirty="0"/>
              <a:t> </a:t>
            </a:r>
            <a:r>
              <a:rPr lang="ru-RU" dirty="0" err="1"/>
              <a:t>вікно</a:t>
            </a:r>
            <a:r>
              <a:rPr lang="ru-RU" dirty="0"/>
              <a:t>”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двома</a:t>
            </a:r>
            <a:r>
              <a:rPr lang="ru-RU" dirty="0"/>
              <a:t> </a:t>
            </a:r>
            <a:r>
              <a:rPr lang="ru-RU" dirty="0" err="1"/>
              <a:t>програмами</a:t>
            </a:r>
            <a:r>
              <a:rPr lang="ru-RU" dirty="0"/>
              <a:t>, через яке вони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надсилати</a:t>
            </a:r>
            <a:r>
              <a:rPr lang="ru-RU" dirty="0"/>
              <a:t> одна </a:t>
            </a:r>
            <a:r>
              <a:rPr lang="ru-RU" dirty="0" err="1"/>
              <a:t>одній</a:t>
            </a:r>
            <a:r>
              <a:rPr lang="ru-RU" dirty="0"/>
              <a:t> </a:t>
            </a:r>
            <a:r>
              <a:rPr lang="ru-RU" dirty="0" err="1"/>
              <a:t>повідомлення</a:t>
            </a:r>
            <a:r>
              <a:rPr lang="ru-RU" dirty="0"/>
              <a:t> через мережу.</a:t>
            </a:r>
            <a:endParaRPr lang="LID4096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38155B-988C-4BD9-84EA-9C592EF6D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2211"/>
            <a:ext cx="7219950" cy="24193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6A29825-D64D-45C7-8C60-90B75D104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733" y="2472211"/>
            <a:ext cx="5114925" cy="18478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B3DCB3B-6D0E-48E1-9B32-B1C36ABE7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547" y="4763958"/>
            <a:ext cx="9096375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508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D63AAAA-A821-4329-A286-4A0A3070175F}"/>
              </a:ext>
            </a:extLst>
          </p:cNvPr>
          <p:cNvSpPr txBox="1">
            <a:spLocks/>
          </p:cNvSpPr>
          <p:nvPr/>
        </p:nvSpPr>
        <p:spPr>
          <a:xfrm>
            <a:off x="1820728" y="269513"/>
            <a:ext cx="9210438" cy="8692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6.</a:t>
            </a:r>
            <a:r>
              <a:rPr lang="uk-UA" dirty="0"/>
              <a:t> Базові терміни:</a:t>
            </a:r>
            <a:r>
              <a:rPr lang="en-US" dirty="0"/>
              <a:t>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uk-UA" dirty="0"/>
              <a:t>порт;</a:t>
            </a:r>
            <a:r>
              <a:rPr lang="en-US" dirty="0"/>
              <a:t> </a:t>
            </a:r>
            <a:r>
              <a:rPr lang="uk-UA" dirty="0"/>
              <a:t>  </a:t>
            </a:r>
            <a:endParaRPr lang="LID4096" dirty="0"/>
          </a:p>
        </p:txBody>
      </p:sp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6EFD3555-E084-4EDF-96EC-510014D1A571}"/>
              </a:ext>
            </a:extLst>
          </p:cNvPr>
          <p:cNvSpPr/>
          <p:nvPr/>
        </p:nvSpPr>
        <p:spPr>
          <a:xfrm>
            <a:off x="1538822" y="1138738"/>
            <a:ext cx="94923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Порт</a:t>
            </a:r>
            <a:r>
              <a:rPr lang="ru-RU" dirty="0"/>
              <a:t>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числовий</a:t>
            </a:r>
            <a:r>
              <a:rPr lang="ru-RU" dirty="0"/>
              <a:t> </a:t>
            </a:r>
            <a:r>
              <a:rPr lang="ru-RU" dirty="0" err="1"/>
              <a:t>ідентифікатор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використовується</a:t>
            </a:r>
            <a:r>
              <a:rPr lang="ru-RU" dirty="0"/>
              <a:t> для </a:t>
            </a:r>
            <a:r>
              <a:rPr lang="ru-RU" dirty="0" err="1"/>
              <a:t>визначення</a:t>
            </a:r>
            <a:r>
              <a:rPr lang="ru-RU" dirty="0"/>
              <a:t> </a:t>
            </a:r>
            <a:r>
              <a:rPr lang="ru-RU" dirty="0" err="1"/>
              <a:t>конкретної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служби</a:t>
            </a:r>
            <a:r>
              <a:rPr lang="ru-RU" dirty="0"/>
              <a:t> на </a:t>
            </a:r>
            <a:r>
              <a:rPr lang="ru-RU" dirty="0" err="1"/>
              <a:t>комп’ютері</a:t>
            </a:r>
            <a:r>
              <a:rPr lang="ru-RU" dirty="0"/>
              <a:t> в </a:t>
            </a:r>
            <a:r>
              <a:rPr lang="ru-RU" dirty="0" err="1"/>
              <a:t>мережі</a:t>
            </a:r>
            <a:r>
              <a:rPr lang="ru-RU" dirty="0"/>
              <a:t>.</a:t>
            </a:r>
            <a:endParaRPr lang="LID4096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AA8B74-B0E3-4480-988F-2C4CFD4FF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3" y="2809875"/>
            <a:ext cx="8572500" cy="4048125"/>
          </a:xfrm>
          <a:prstGeom prst="rect">
            <a:avLst/>
          </a:prstGeom>
        </p:spPr>
      </p:pic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9F924261-6421-46D4-B547-4A02B012282F}"/>
              </a:ext>
            </a:extLst>
          </p:cNvPr>
          <p:cNvSpPr/>
          <p:nvPr/>
        </p:nvSpPr>
        <p:spPr>
          <a:xfrm>
            <a:off x="486383" y="1785069"/>
            <a:ext cx="103307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Діапазони</a:t>
            </a:r>
            <a:r>
              <a:rPr lang="ru-RU" b="1" dirty="0"/>
              <a:t> </a:t>
            </a:r>
            <a:r>
              <a:rPr lang="ru-RU" b="1" dirty="0" err="1"/>
              <a:t>портів</a:t>
            </a:r>
            <a:r>
              <a:rPr lang="ru-RU" b="1" dirty="0"/>
              <a:t>: 0–1023</a:t>
            </a:r>
            <a:r>
              <a:rPr lang="ru-RU" dirty="0"/>
              <a:t> — </a:t>
            </a:r>
            <a:r>
              <a:rPr lang="ru-RU" i="1" dirty="0" err="1"/>
              <a:t>Системні</a:t>
            </a:r>
            <a:r>
              <a:rPr lang="ru-RU" i="1" dirty="0"/>
              <a:t> порти</a:t>
            </a:r>
            <a:r>
              <a:rPr lang="ru-RU" dirty="0"/>
              <a:t> (</a:t>
            </a:r>
            <a:r>
              <a:rPr lang="ru-RU" dirty="0" err="1"/>
              <a:t>зарезервовані</a:t>
            </a:r>
            <a:r>
              <a:rPr lang="ru-RU" dirty="0"/>
              <a:t> для </a:t>
            </a:r>
            <a:r>
              <a:rPr lang="ru-RU" dirty="0" err="1"/>
              <a:t>важливих</a:t>
            </a:r>
            <a:r>
              <a:rPr lang="ru-RU" dirty="0"/>
              <a:t> служб)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1024–49151</a:t>
            </a:r>
            <a:r>
              <a:rPr lang="ru-RU" dirty="0"/>
              <a:t> — </a:t>
            </a:r>
            <a:r>
              <a:rPr lang="ru-RU" i="1" dirty="0" err="1"/>
              <a:t>Зареєстровані</a:t>
            </a:r>
            <a:r>
              <a:rPr lang="ru-RU" i="1" dirty="0"/>
              <a:t> порти</a:t>
            </a:r>
            <a:r>
              <a:rPr lang="ru-RU" dirty="0"/>
              <a:t> (для </a:t>
            </a:r>
            <a:r>
              <a:rPr lang="ru-RU" dirty="0" err="1"/>
              <a:t>користувацьких</a:t>
            </a:r>
            <a:r>
              <a:rPr lang="ru-RU" dirty="0"/>
              <a:t> </a:t>
            </a:r>
            <a:r>
              <a:rPr lang="ru-RU" dirty="0" err="1"/>
              <a:t>додатків</a:t>
            </a:r>
            <a:r>
              <a:rPr lang="ru-RU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49152–65535</a:t>
            </a:r>
            <a:r>
              <a:rPr lang="ru-RU" dirty="0"/>
              <a:t> — </a:t>
            </a:r>
            <a:r>
              <a:rPr lang="ru-RU" i="1" dirty="0" err="1"/>
              <a:t>Динамічні</a:t>
            </a:r>
            <a:r>
              <a:rPr lang="ru-RU" i="1" dirty="0"/>
              <a:t> порти</a:t>
            </a:r>
            <a:r>
              <a:rPr lang="ru-RU" dirty="0"/>
              <a:t> (</a:t>
            </a:r>
            <a:r>
              <a:rPr lang="ru-RU" dirty="0" err="1"/>
              <a:t>використовуються</a:t>
            </a:r>
            <a:r>
              <a:rPr lang="ru-RU" dirty="0"/>
              <a:t> </a:t>
            </a:r>
            <a:r>
              <a:rPr lang="ru-RU" dirty="0" err="1"/>
              <a:t>тимчасово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26342846"/>
      </p:ext>
    </p:extLst>
  </p:cSld>
  <p:clrMapOvr>
    <a:masterClrMapping/>
  </p:clrMapOvr>
</p:sld>
</file>

<file path=ppt/theme/theme1.xml><?xml version="1.0" encoding="utf-8"?>
<a:theme xmlns:a="http://schemas.openxmlformats.org/drawingml/2006/main" name="Віхоть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94</TotalTime>
  <Words>471</Words>
  <Application>Microsoft Office PowerPoint</Application>
  <PresentationFormat>Широкий екран</PresentationFormat>
  <Paragraphs>69</Paragraphs>
  <Slides>12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Віхоть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Вступ до мереж</dc:title>
  <dc:creator>hp</dc:creator>
  <cp:lastModifiedBy>hp</cp:lastModifiedBy>
  <cp:revision>27</cp:revision>
  <dcterms:created xsi:type="dcterms:W3CDTF">2025-05-15T09:27:10Z</dcterms:created>
  <dcterms:modified xsi:type="dcterms:W3CDTF">2025-05-15T13:01:20Z</dcterms:modified>
</cp:coreProperties>
</file>